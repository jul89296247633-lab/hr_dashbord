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85" r:id="rId18"/>
  </p:sldIdLst>
  <p:sldSz cx="14630400" cy="8229600"/>
  <p:notesSz cx="8229600" cy="14630400"/>
  <p:embeddedFontLst>
    <p:embeddedFont>
      <p:font typeface="Montserrat" panose="020B0604020202020204" charset="-52"/>
      <p:regular r:id="rId20"/>
      <p:bold r:id="rId21"/>
      <p:italic r:id="rId22"/>
      <p:boldItalic r:id="rId23"/>
    </p:embeddedFont>
    <p:embeddedFont>
      <p:font typeface="Montserrat Black" panose="020B0604020202020204" charset="-52"/>
      <p:regular r:id="rId24"/>
      <p:bold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0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47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97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60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44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03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88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03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8.svg"/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6.svg"/><Relationship Id="rId5" Type="http://schemas.openxmlformats.org/officeDocument/2006/relationships/image" Target="../media/image-4-4.sv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-10-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5.svg"/><Relationship Id="rId5" Type="http://schemas.openxmlformats.org/officeDocument/2006/relationships/image" Target="../media/image-10-3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4" Type="http://schemas.openxmlformats.org/officeDocument/2006/relationships/image" Target="../media/image-5-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-6-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-6-5.svg"/><Relationship Id="rId5" Type="http://schemas.openxmlformats.org/officeDocument/2006/relationships/image" Target="../media/image-6-3.svg"/><Relationship Id="rId4" Type="http://schemas.openxmlformats.org/officeDocument/2006/relationships/image" Target="../media/image8.png"/><Relationship Id="rId9" Type="http://schemas.openxmlformats.org/officeDocument/2006/relationships/image" Target="../media/image-6-9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Качественный найм = рост выручки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правильный сотрудник способен изменить финансовый результат всей команды. Разбираемся, почему найм — это стратегический инструмент роста, а не административная функция.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631031"/>
            <a:ext cx="6862405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Мы уже теряем деньги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8158" y="1678067"/>
            <a:ext cx="3719751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300</a:t>
            </a:r>
            <a:r>
              <a:rPr lang="ru-RU" sz="54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-500</a:t>
            </a:r>
            <a:r>
              <a:rPr lang="en-US" sz="54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771084" y="2617113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Минимум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218158" y="3059311"/>
            <a:ext cx="371975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 на слабого сотрудника в месяц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78772" y="1678067"/>
            <a:ext cx="3719870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ru-RU" sz="54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1-</a:t>
            </a:r>
            <a:r>
              <a:rPr lang="en-US" sz="54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3M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0731818" y="2617113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Максимум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178772" y="3059311"/>
            <a:ext cx="371987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 на сильного сотрудника в месяц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98406" y="4192072"/>
            <a:ext cx="3719870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ru-RU" sz="54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r>
              <a:rPr lang="en-US" sz="54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x-10x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751451" y="5131118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Разрыв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8198406" y="5573316"/>
            <a:ext cx="371987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Разница в результативности между сильными и слабыми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8158" y="6432828"/>
            <a:ext cx="7680484" cy="1165741"/>
          </a:xfrm>
          <a:prstGeom prst="roundRect">
            <a:avLst>
              <a:gd name="adj" fmla="val 7534"/>
            </a:avLst>
          </a:prstGeom>
          <a:solidFill>
            <a:srgbClr val="FCF2B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232" y="6747391"/>
            <a:ext cx="261342" cy="2090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97648" y="6677858"/>
            <a:ext cx="679192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Потери происходят прямо сейчас — пока вы читаете этот слайд.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710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Причина — не рынок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4108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работают в одинаковых рыночных условиях: те же продукты, те же цены, та же конкуренция. Но результаты кардинально различаются.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9676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Разница между лидерами и аутсайдерами рынка — это </a:t>
            </a:r>
            <a:r>
              <a:rPr lang="en-US" sz="1750" b="1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качество людей</a:t>
            </a: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а не внешние факторы.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577721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921812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861209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Рынок одинаков для всех. Разница создаётся внутри команды.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70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Портрет сотрудника, который даёт результат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5689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607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Возраст 26+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097774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Зрелость, ответственность и осознанный подход к работе и клиентам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75689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607356"/>
            <a:ext cx="37759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Здоровый образ жизни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409777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 энергия, выносливость и способность держать темп в активных продажах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7720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Ухоженность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618089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Первое впечатление решает — внешний вид напрямую влияет на доверие клиента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277207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6127671"/>
            <a:ext cx="3550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Позитив и активность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618089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Энтузиазм заразителен: такие люди мотивируют команду и притягивают клиентов</a:t>
            </a:r>
            <a:endParaRPr lang="en-US" sz="1750" dirty="0"/>
          </a:p>
        </p:txBody>
      </p:sp>
      <p:sp>
        <p:nvSpPr>
          <p:cNvPr id="15" name="Управляющая кнопка: далее 14">
            <a:hlinkClick r:id="" action="ppaction://hlinkshowjump?jump=nextslide" highlightClick="1"/>
          </p:cNvPr>
          <p:cNvSpPr/>
          <p:nvPr/>
        </p:nvSpPr>
        <p:spPr>
          <a:xfrm>
            <a:off x="793790" y="2459935"/>
            <a:ext cx="1042416" cy="104241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алее 15">
            <a:hlinkClick r:id="" action="ppaction://hlinkshowjump?jump=nextslide" highlightClick="1"/>
          </p:cNvPr>
          <p:cNvSpPr/>
          <p:nvPr/>
        </p:nvSpPr>
        <p:spPr>
          <a:xfrm>
            <a:off x="7456884" y="2403312"/>
            <a:ext cx="1042416" cy="104241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Управляющая кнопка: далее 16">
            <a:hlinkClick r:id="" action="ppaction://hlinkshowjump?jump=nextslide" highlightClick="1"/>
          </p:cNvPr>
          <p:cNvSpPr/>
          <p:nvPr/>
        </p:nvSpPr>
        <p:spPr>
          <a:xfrm>
            <a:off x="7456884" y="4986421"/>
            <a:ext cx="1042416" cy="104241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Управляющая кнопка: далее 17">
            <a:hlinkClick r:id="" action="ppaction://hlinkshowjump?jump=nextslide" highlightClick="1"/>
          </p:cNvPr>
          <p:cNvSpPr/>
          <p:nvPr/>
        </p:nvSpPr>
        <p:spPr>
          <a:xfrm>
            <a:off x="793790" y="4940039"/>
            <a:ext cx="1042416" cy="104241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009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Сильные сотрудники кратно увеличивают выручку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86589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21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+30% к продажам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11441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Прирост выручки при замене слабого сотрудника на сильного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18658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3421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Быстрый выход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91144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Сильный сотрудник выходит на результат в первые недели, без долгого разгона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82429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6058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1–4 млн ₽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54915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Дополнительная выручка за 3–4 месяца с одного правильно нанятого человека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3431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Текущая ситуация в команде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7780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каждой команде есть сотрудники, которые не соответствуют профилю: они давно в компании, но стабильно показывают низкие результаты.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670584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Долгий период «разгона» — месяцами без результата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Низкая эффективность на постоянной основе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Занимают место, которое мог бы занять сильный кандидат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36168" y="1506617"/>
            <a:ext cx="6571417" cy="5216366"/>
          </a:xfrm>
          <a:prstGeom prst="roundRect">
            <a:avLst>
              <a:gd name="adj" fmla="val 3131"/>
            </a:avLst>
          </a:prstGeom>
          <a:solidFill>
            <a:srgbClr val="EB513E"/>
          </a:solidFill>
          <a:ln/>
        </p:spPr>
      </p:sp>
      <p:sp>
        <p:nvSpPr>
          <p:cNvPr id="6" name="Text 4"/>
          <p:cNvSpPr/>
          <p:nvPr/>
        </p:nvSpPr>
        <p:spPr>
          <a:xfrm>
            <a:off x="7662982" y="1733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Ключевой вывод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62982" y="2314575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Удерживая слабых сотрудников из-за страха «остаться без людей», мы каждый месяц оставляем деньги </a:t>
            </a:r>
            <a:r>
              <a:rPr lang="en-US" sz="17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</a:t>
            </a: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1750" dirty="0" smtClean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улице</a:t>
            </a:r>
            <a:r>
              <a:rPr lang="en-US" sz="1750" dirty="0" smtClean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62982" y="3607356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Это не лояльность к команде — это потеря выручки.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6915"/>
            <a:ext cx="12402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Текучка — это симптом ошибки найма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596" y="2199323"/>
            <a:ext cx="6999208" cy="4012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0743" y="3211282"/>
            <a:ext cx="2643673" cy="73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Неправильный найм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13651" y="4049264"/>
            <a:ext cx="2290799" cy="117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Неверный профиль, поспешное решение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839498" y="3463166"/>
            <a:ext cx="2290800" cy="366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Ранний уход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839498" y="3934327"/>
            <a:ext cx="2290800" cy="880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Увольнение в первые 3 месяца, потери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3790" y="646688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Большинство увольнений происходит в первые 3 месяца — это прямое следствие неправильного выбора на входе. Проблема не в сотруднике, а в процессе найма.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633413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Цена одной ошибки найма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6642" y="2293858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30480">
            <a:solidFill>
              <a:srgbClr val="E0BBB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6162" y="2293858"/>
            <a:ext cx="121920" cy="1630085"/>
          </a:xfrm>
          <a:prstGeom prst="roundRect">
            <a:avLst>
              <a:gd name="adj" fmla="val 74477"/>
            </a:avLst>
          </a:prstGeom>
          <a:solidFill>
            <a:srgbClr val="EB513E"/>
          </a:solidFill>
          <a:ln/>
        </p:spPr>
      </p:sp>
      <p:sp>
        <p:nvSpPr>
          <p:cNvPr id="6" name="Text 3"/>
          <p:cNvSpPr/>
          <p:nvPr/>
        </p:nvSpPr>
        <p:spPr>
          <a:xfrm>
            <a:off x="1094661" y="2540437"/>
            <a:ext cx="43598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120 000 ₽ — прямые затраты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4661" y="3001804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Рекрутинг, обучение, адаптация, зарплата в период разгона — деньги, которые уже потрачены впустую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6642" y="4129921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30480">
            <a:solidFill>
              <a:srgbClr val="E0BBB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162" y="4129921"/>
            <a:ext cx="121920" cy="1630085"/>
          </a:xfrm>
          <a:prstGeom prst="roundRect">
            <a:avLst>
              <a:gd name="adj" fmla="val 74477"/>
            </a:avLst>
          </a:prstGeom>
          <a:solidFill>
            <a:srgbClr val="EB513E"/>
          </a:solidFill>
          <a:ln/>
        </p:spPr>
      </p:sp>
      <p:sp>
        <p:nvSpPr>
          <p:cNvPr id="10" name="Text 7"/>
          <p:cNvSpPr/>
          <p:nvPr/>
        </p:nvSpPr>
        <p:spPr>
          <a:xfrm>
            <a:off x="1094661" y="4376499"/>
            <a:ext cx="320492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2–3 месяца просадки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4661" y="4837867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 место пустует или занято слабым сотрудником, команда работает ниже потенциала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6642" y="5965984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30480">
            <a:solidFill>
              <a:srgbClr val="E0BB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6162" y="5965984"/>
            <a:ext cx="121920" cy="1630085"/>
          </a:xfrm>
          <a:prstGeom prst="roundRect">
            <a:avLst>
              <a:gd name="adj" fmla="val 74477"/>
            </a:avLst>
          </a:prstGeom>
          <a:solidFill>
            <a:srgbClr val="EB513E"/>
          </a:solidFill>
          <a:ln/>
        </p:spPr>
      </p:sp>
      <p:sp>
        <p:nvSpPr>
          <p:cNvPr id="14" name="Text 11"/>
          <p:cNvSpPr/>
          <p:nvPr/>
        </p:nvSpPr>
        <p:spPr>
          <a:xfrm>
            <a:off x="1094661" y="6212562"/>
            <a:ext cx="595503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 err="1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До</a:t>
            </a:r>
            <a:r>
              <a:rPr lang="en-US" sz="21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2100" b="1" dirty="0" smtClean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 </a:t>
            </a:r>
            <a:r>
              <a:rPr lang="en-US" sz="21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млн ₽ недополученной выручки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94661" y="6673929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Совокупные потери на одного неправильно нанятого человека за период его работы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91" y="326810"/>
            <a:ext cx="4911378" cy="32742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85700" y="203953"/>
            <a:ext cx="4333875" cy="1827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Сейчас — идеальный момент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338569" y="2031324"/>
            <a:ext cx="7249122" cy="171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Рынок труда изменился: сильные кандидаты, которые раньше были недоступны, сегодня в активном поиске.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98574" y="4379754"/>
            <a:ext cx="10843345" cy="2146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Рынок освободился — конкуренция за таланты снизилась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Есть сильные кандидаты, готовые к работе прямо сейчас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Можно </a:t>
            </a:r>
            <a:r>
              <a:rPr lang="en-US" sz="2400" b="1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выбирать лучших</a:t>
            </a:r>
            <a:r>
              <a:rPr lang="en-US" sz="24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а не закрывать вакансии любым доступным человеком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98574" y="6593681"/>
            <a:ext cx="4333875" cy="1333976"/>
          </a:xfrm>
          <a:prstGeom prst="roundRect">
            <a:avLst>
              <a:gd name="adj" fmla="val 6137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48" y="6822086"/>
            <a:ext cx="243602" cy="1949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5123" y="6784716"/>
            <a:ext cx="3505557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Окно возможностей открыто. Те, кто действует первыми, получают лучших людей.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5425" y="652105"/>
            <a:ext cx="76059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Что нужно сделать прямо сейчас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475095" y="2674144"/>
            <a:ext cx="219670" cy="1272778"/>
          </a:xfrm>
          <a:prstGeom prst="roundRect">
            <a:avLst>
              <a:gd name="adj" fmla="val 42013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5425" y="2529959"/>
            <a:ext cx="659130" cy="659130"/>
          </a:xfrm>
          <a:prstGeom prst="roundRect">
            <a:avLst>
              <a:gd name="adj" fmla="val 69364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0207" y="2694742"/>
            <a:ext cx="329565" cy="3295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27319" y="2564249"/>
            <a:ext cx="486989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Оценить текущих сотрудников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127319" y="3035141"/>
            <a:ext cx="6734056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честный аудит команды по профилю: кто соответствует, кто нет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804660" y="4489371"/>
            <a:ext cx="219670" cy="1272778"/>
          </a:xfrm>
          <a:prstGeom prst="roundRect">
            <a:avLst>
              <a:gd name="adj" fmla="val 42013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4990" y="4345186"/>
            <a:ext cx="659130" cy="659130"/>
          </a:xfrm>
          <a:prstGeom prst="roundRect">
            <a:avLst>
              <a:gd name="adj" fmla="val 69364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9772" y="4509968"/>
            <a:ext cx="329565" cy="3295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6884" y="4379476"/>
            <a:ext cx="454533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Принять решения по слабым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7456884" y="4850368"/>
            <a:ext cx="640449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откладывать — каждый месяц промедления стоит компании сотни тысяч рублей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134225" y="6304597"/>
            <a:ext cx="219670" cy="1272778"/>
          </a:xfrm>
          <a:prstGeom prst="roundRect">
            <a:avLst>
              <a:gd name="adj" fmla="val 42013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914555" y="6160413"/>
            <a:ext cx="659130" cy="659130"/>
          </a:xfrm>
          <a:prstGeom prst="roundRect">
            <a:avLst>
              <a:gd name="adj" fmla="val 69364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9337" y="6325195"/>
            <a:ext cx="329565" cy="329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86449" y="6194703"/>
            <a:ext cx="409182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Запустить активный найм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7786449" y="6665595"/>
            <a:ext cx="6074926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Использовать момент рынка и заменить слабых на сильных, пока окно открыто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57440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Как мы нанимаем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отбора, которая отсеивает ошибки с первого дня и строит сильную команду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878556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659"/>
            <a:ext cx="124876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Жёсткий отбор: три этапа фильтрации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5066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Жёсткий отбор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059555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Многоэтапный конкурс на входе — слабые кандидаты не проходят дальше первого контакта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435066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569137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Проверка в первый день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41388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Новый сотрудник сразу попадает в боевые условия — мы видим реальный потенциал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435066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Быстрая оценка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05955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Чёткие критерии результата за первые дни — решение принимается без промедления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993130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337221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27661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Ошибки найма отсеиваются сразу — команда не тянет балласт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999624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56999"/>
            <a:ext cx="6049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Кого мы нанимаем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05940"/>
            <a:ext cx="3664744" cy="2773799"/>
          </a:xfrm>
          <a:prstGeom prst="roundRect">
            <a:avLst>
              <a:gd name="adj" fmla="val 3435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040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🏥</a:t>
            </a: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Медицина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530793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Врачи, фармацевты, медицинские консультанты — люди с глубоким пониманием здоровья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805940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040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💪</a:t>
            </a: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Фитнес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2530793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Тренеры, нутрициологи, специалисты по восстановлению — знают потребности изнутри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806553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040987"/>
            <a:ext cx="31526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🌿</a:t>
            </a: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Смежные сферы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531406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Эксперты в области здорового образа жизни, wellness и профилактики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7467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Профильные специалисты продают быстрее и убедительнее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39373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0" y="591264"/>
            <a:ext cx="6705005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910233"/>
            <a:ext cx="6705005" cy="67050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1738" y="1432798"/>
            <a:ext cx="1428631" cy="254437"/>
          </a:xfrm>
          <a:prstGeom prst="roundRect">
            <a:avLst>
              <a:gd name="adj" fmla="val 20125"/>
            </a:avLst>
          </a:prstGeom>
          <a:solidFill>
            <a:srgbClr val="FAD5D1"/>
          </a:solidFill>
          <a:ln/>
        </p:spPr>
      </p:sp>
      <p:sp>
        <p:nvSpPr>
          <p:cNvPr id="5" name="Text 2"/>
          <p:cNvSpPr/>
          <p:nvPr/>
        </p:nvSpPr>
        <p:spPr>
          <a:xfrm>
            <a:off x="9233178" y="1478518"/>
            <a:ext cx="1245751" cy="16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 ПОКУПАТЕЛЬ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141738" y="1728192"/>
            <a:ext cx="343876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Портрет клиента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1738" y="2795826"/>
            <a:ext cx="3438763" cy="1098709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22860">
            <a:solidFill>
              <a:srgbClr val="E0BBB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18878" y="2795826"/>
            <a:ext cx="91440" cy="1098709"/>
          </a:xfrm>
          <a:prstGeom prst="roundRect">
            <a:avLst>
              <a:gd name="adj" fmla="val 70000"/>
            </a:avLst>
          </a:prstGeom>
          <a:solidFill>
            <a:srgbClr val="EB513E"/>
          </a:solidFill>
          <a:ln/>
        </p:spPr>
      </p:sp>
      <p:sp>
        <p:nvSpPr>
          <p:cNvPr id="9" name="Text 6"/>
          <p:cNvSpPr/>
          <p:nvPr/>
        </p:nvSpPr>
        <p:spPr>
          <a:xfrm>
            <a:off x="9385578" y="2971086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Возраст 30+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85578" y="3311604"/>
            <a:ext cx="3019663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Зрелый человек с доходом и сформированными приоритетами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1738" y="3996928"/>
            <a:ext cx="3438763" cy="1598533"/>
          </a:xfrm>
          <a:prstGeom prst="roundRect">
            <a:avLst>
              <a:gd name="adj" fmla="val 6864"/>
            </a:avLst>
          </a:prstGeom>
          <a:solidFill>
            <a:srgbClr val="FFFFFF"/>
          </a:solidFill>
          <a:ln w="22860">
            <a:solidFill>
              <a:srgbClr val="E0BBB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18878" y="3996928"/>
            <a:ext cx="91440" cy="1598533"/>
          </a:xfrm>
          <a:prstGeom prst="roundRect">
            <a:avLst>
              <a:gd name="adj" fmla="val 70000"/>
            </a:avLst>
          </a:prstGeom>
          <a:solidFill>
            <a:srgbClr val="EB513E"/>
          </a:solidFill>
          <a:ln/>
        </p:spPr>
      </p:sp>
      <p:sp>
        <p:nvSpPr>
          <p:cNvPr id="13" name="Text 10"/>
          <p:cNvSpPr/>
          <p:nvPr/>
        </p:nvSpPr>
        <p:spPr>
          <a:xfrm>
            <a:off x="9385578" y="4172188"/>
            <a:ext cx="22081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Интерес к здоровью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385578" y="4512707"/>
            <a:ext cx="3019663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Испытывает боли и потребность в их профилактике.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85578" y="5012531"/>
            <a:ext cx="3019663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Следит за внешним видом, занимается спортом, читает о ЗОЖ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1738" y="5697855"/>
            <a:ext cx="3438763" cy="1098709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22860">
            <a:solidFill>
              <a:srgbClr val="E0BBB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18878" y="5697855"/>
            <a:ext cx="91440" cy="1098709"/>
          </a:xfrm>
          <a:prstGeom prst="roundRect">
            <a:avLst>
              <a:gd name="adj" fmla="val 70000"/>
            </a:avLst>
          </a:prstGeom>
          <a:solidFill>
            <a:srgbClr val="EB513E"/>
          </a:solidFill>
          <a:ln/>
        </p:spPr>
      </p:sp>
      <p:sp>
        <p:nvSpPr>
          <p:cNvPr id="18" name="Text 15"/>
          <p:cNvSpPr/>
          <p:nvPr/>
        </p:nvSpPr>
        <p:spPr>
          <a:xfrm>
            <a:off x="9385578" y="5873115"/>
            <a:ext cx="219920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Осознанный подход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385578" y="6213634"/>
            <a:ext cx="3019663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Принимает взвешенные решения, готов инвестировать в себя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62447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6331"/>
            <a:ext cx="105531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Сотрудник = отражение клиента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387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Когда специалист сам живёт в этой теме — он говорит с клиентом на одном языке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3790" y="3856792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856792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Понимает потребности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470154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Разделяет ценности клиента, знает его боли и мотивацию — доверие возникает быстро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893" y="3856792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38567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Легче продаёт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86356" y="434721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нужно объяснять базу — диалог сразу на уровне решения, цикл сделки короче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677995" y="3856792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28459" y="38567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Даёт выше чек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528459" y="434721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Экспертная позиция позволяет обосновать премиальную стоимость без скидок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011386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228" y="952381"/>
            <a:ext cx="1804868" cy="348853"/>
          </a:xfrm>
          <a:prstGeom prst="roundRect">
            <a:avLst>
              <a:gd name="adj" fmla="val 18775"/>
            </a:avLst>
          </a:prstGeom>
          <a:solidFill>
            <a:srgbClr val="FAD5D1"/>
          </a:solidFill>
          <a:ln/>
        </p:spPr>
      </p:sp>
      <p:sp>
        <p:nvSpPr>
          <p:cNvPr id="3" name="Text 1"/>
          <p:cNvSpPr/>
          <p:nvPr/>
        </p:nvSpPr>
        <p:spPr>
          <a:xfrm>
            <a:off x="799148" y="1010841"/>
            <a:ext cx="1571030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УСЛОВИЯ РАБОТЫ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2228" y="1368147"/>
            <a:ext cx="6395204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41B1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Что мы даём сотрудникам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2228" y="2753797"/>
            <a:ext cx="639520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создаём среду, в которой хотят работать сильные люди — и остаются надолго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2228" y="3521988"/>
            <a:ext cx="6395204" cy="1044059"/>
          </a:xfrm>
          <a:prstGeom prst="roundRect">
            <a:avLst>
              <a:gd name="adj" fmla="val 7842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33" y="3808333"/>
            <a:ext cx="243602" cy="1949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5641" y="3738086"/>
            <a:ext cx="556688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Сильные условия привлекают сильных людей. Это не затраты — это инвестиция в результат команды.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60588" y="952381"/>
            <a:ext cx="3113842" cy="3078718"/>
          </a:xfrm>
          <a:prstGeom prst="roundRect">
            <a:avLst>
              <a:gd name="adj" fmla="val 2659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63113" y="1154906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EB513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923848" y="1315641"/>
            <a:ext cx="263128" cy="2631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63113" y="190702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Белая зарплата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763113" y="2378988"/>
            <a:ext cx="2708791" cy="144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Прозрачность и стабильность, возможность видеть рассчеты в режиме он-лайн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0841831" y="952381"/>
            <a:ext cx="3113961" cy="3078718"/>
          </a:xfrm>
          <a:prstGeom prst="roundRect">
            <a:avLst>
              <a:gd name="adj" fmla="val 2659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044357" y="1154906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EB513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205091" y="1315641"/>
            <a:ext cx="263128" cy="2631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44357" y="190702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Обучение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1044357" y="2378988"/>
            <a:ext cx="270891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Системная подготовка с первого дня, полезность для себя и близкиз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560588" y="4198501"/>
            <a:ext cx="3113842" cy="3078718"/>
          </a:xfrm>
          <a:prstGeom prst="roundRect">
            <a:avLst>
              <a:gd name="adj" fmla="val 2659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63113" y="4401026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EB513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23848" y="4561761"/>
            <a:ext cx="263128" cy="2631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63113" y="515314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Рост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763113" y="5625108"/>
            <a:ext cx="2708791" cy="144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Возможность вести активный образ жизни на работе, быть в теме новейших разработок для здоровья и молодости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10841831" y="4198501"/>
            <a:ext cx="3113961" cy="3078718"/>
          </a:xfrm>
          <a:prstGeom prst="roundRect">
            <a:avLst>
              <a:gd name="adj" fmla="val 2659"/>
            </a:avLst>
          </a:prstGeom>
          <a:solidFill>
            <a:srgbClr val="FAD5D1"/>
          </a:solidFill>
          <a:ln w="7620">
            <a:solidFill>
              <a:srgbClr val="E0BBB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1044357" y="4401026"/>
            <a:ext cx="584716" cy="584716"/>
          </a:xfrm>
          <a:prstGeom prst="roundRect">
            <a:avLst>
              <a:gd name="adj" fmla="val 15636797"/>
            </a:avLst>
          </a:prstGeom>
          <a:solidFill>
            <a:srgbClr val="EB513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1205091" y="4561761"/>
            <a:ext cx="263128" cy="2631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044357" y="5153144"/>
            <a:ext cx="2708910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59595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Корпоративнвя жизнь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11044357" y="5929670"/>
            <a:ext cx="270891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Марафон, конкурсы, скидки на продукцию, социальное признание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00077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54089" y="255037"/>
            <a:ext cx="13852849" cy="7725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ПОЧЕМУ У НАС КЛАССНО </a:t>
            </a:r>
            <a:r>
              <a:rPr lang="ru-RU" sz="3200" dirty="0" smtClean="0">
                <a:solidFill>
                  <a:srgbClr val="FF0000"/>
                </a:solidFill>
              </a:rPr>
              <a:t>РАБОТАТЬ</a:t>
            </a:r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ru-RU" sz="3200" dirty="0" smtClean="0"/>
              <a:t>🧘 </a:t>
            </a:r>
            <a:r>
              <a:rPr lang="ru-RU" sz="2400" dirty="0"/>
              <a:t>РАБОТА = ЗАБОТА О СЕБЕ Массаж, спорт и уход за собой прямо на рабочем месте в течение дня. Не после работы, а во время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ru-RU" sz="2400" dirty="0"/>
          </a:p>
          <a:p>
            <a:r>
              <a:rPr lang="ru-RU" sz="2400" dirty="0"/>
              <a:t>📚 ПОСТОЯННОЕ РАЗВИТИЕ Учим не только продажам, но и технологиям оздоровления — знания, которые пригодятся вам и вашей семье. Опытные наставники, тренинги, реальный карьерный рост внутри компании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ru-RU" sz="2400" dirty="0"/>
          </a:p>
          <a:p>
            <a:r>
              <a:rPr lang="ru-RU" sz="2400" dirty="0"/>
              <a:t>🏆 КОНКУРСЫ И ПРЕМИИ Регулярные соревнования с реальными призами и выплатами. Лучшие едут на корпоративные мероприятия в Москву и Сочи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ru-RU" sz="2400" dirty="0"/>
          </a:p>
          <a:p>
            <a:r>
              <a:rPr lang="ru-RU" sz="2400" dirty="0"/>
              <a:t>👗 ФОРМА ОТ КОМПАНИИ — выдаём и заботимся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ru-RU" sz="2400" dirty="0"/>
          </a:p>
          <a:p>
            <a:r>
              <a:rPr lang="ru-RU" sz="2400" dirty="0"/>
              <a:t>🎉 КОРПОРАТИВНАЯ ЖИЗНЬ Фитнес-марафоны, подарки на день рождения, скидки на всю продукцию для вас и близких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ru-RU" sz="2400" dirty="0"/>
          </a:p>
          <a:p>
            <a:r>
              <a:rPr lang="ru-RU" sz="2400" dirty="0"/>
              <a:t>📅 ГИБКИЙ ГРАФИК 2/2, 3/2 или 3/3 с 10:00 до 22:00. Учитываем важные для тебя даты при составлении расписания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ru-RU" sz="2400" dirty="0"/>
          </a:p>
          <a:p>
            <a:r>
              <a:rPr lang="ru-RU" sz="2400" dirty="0"/>
              <a:t>🏪 МОЖНО РАБОТАТЬ В НЕСКОЛЬКИХ САЛОНАХ — для разнообразия в работе.</a:t>
            </a:r>
          </a:p>
        </p:txBody>
      </p:sp>
    </p:spTree>
    <p:extLst>
      <p:ext uri="{BB962C8B-B14F-4D97-AF65-F5344CB8AC3E}">
        <p14:creationId xmlns:p14="http://schemas.microsoft.com/office/powerpoint/2010/main" val="179957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1016</Words>
  <Application>Microsoft Office PowerPoint</Application>
  <PresentationFormat>Произвольный</PresentationFormat>
  <Paragraphs>144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Montserrat</vt:lpstr>
      <vt:lpstr>Arial</vt:lpstr>
      <vt:lpstr>Montserrat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admin</dc:creator>
  <cp:lastModifiedBy>admin</cp:lastModifiedBy>
  <cp:revision>6</cp:revision>
  <dcterms:created xsi:type="dcterms:W3CDTF">2026-04-19T08:43:44Z</dcterms:created>
  <dcterms:modified xsi:type="dcterms:W3CDTF">2026-05-20T11:41:23Z</dcterms:modified>
</cp:coreProperties>
</file>